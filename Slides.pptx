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5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o-RO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Macro-F1</c:v>
                </c:pt>
              </c:strCache>
            </c:strRef>
          </c:tx>
          <c:spPr>
            <a:solidFill>
              <a:srgbClr val="9DA5B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9DA5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10C-4713-95DF-1106797387A0}"/>
              </c:ext>
            </c:extLst>
          </c:dPt>
          <c:dPt>
            <c:idx val="1"/>
            <c:invertIfNegative val="0"/>
            <c:bubble3D val="0"/>
            <c:spPr>
              <a:solidFill>
                <a:srgbClr val="4A90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10C-4713-95DF-1106797387A0}"/>
              </c:ext>
            </c:extLst>
          </c:dPt>
          <c:dPt>
            <c:idx val="2"/>
            <c:invertIfNegative val="0"/>
            <c:bubble3D val="0"/>
            <c:spPr>
              <a:solidFill>
                <a:srgbClr val="2D5DA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10C-4713-95DF-1106797387A0}"/>
              </c:ext>
            </c:extLst>
          </c:dPt>
          <c:dPt>
            <c:idx val="3"/>
            <c:invertIfNegative val="0"/>
            <c:bubble3D val="0"/>
            <c:spPr>
              <a:solidFill>
                <a:srgbClr val="1D8A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10C-4713-95DF-1106797387A0}"/>
              </c:ext>
            </c:extLst>
          </c:dPt>
          <c:dPt>
            <c:idx val="4"/>
            <c:invertIfNegative val="0"/>
            <c:bubble3D val="0"/>
            <c:spPr>
              <a:solidFill>
                <a:srgbClr val="1A7B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10C-4713-95DF-1106797387A0}"/>
              </c:ext>
            </c:extLst>
          </c:dPt>
          <c:dPt>
            <c:idx val="5"/>
            <c:invertIfNegative val="0"/>
            <c:bubble3D val="0"/>
            <c:spPr>
              <a:solidFill>
                <a:srgbClr val="3B9BD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10C-4713-95DF-1106797387A0}"/>
              </c:ext>
            </c:extLst>
          </c:dPt>
          <c:dPt>
            <c:idx val="6"/>
            <c:invertIfNegative val="0"/>
            <c:bubble3D val="0"/>
            <c:spPr>
              <a:solidFill>
                <a:srgbClr val="E07B2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E10C-4713-95DF-1106797387A0}"/>
              </c:ext>
            </c:extLst>
          </c:dPt>
          <c:dLbls>
            <c:delete val="1"/>
          </c:dLbls>
          <c:cat>
            <c:strRef>
              <c:f>Sheet1!$A$2:$A$8</c:f>
              <c:strCache>
                <c:ptCount val="7"/>
                <c:pt idx="0">
                  <c:v>TF-IDF+SVM</c:v>
                </c:pt>
                <c:pt idx="1">
                  <c:v>BERT-base</c:v>
                </c:pt>
                <c:pt idx="2">
                  <c:v>BERT-large</c:v>
                </c:pt>
                <c:pt idx="3">
                  <c:v>Qwen3-0.6B</c:v>
                </c:pt>
                <c:pt idx="4">
                  <c:v>Llama-1B</c:v>
                </c:pt>
                <c:pt idx="5">
                  <c:v>Mistral-3B</c:v>
                </c:pt>
                <c:pt idx="6">
                  <c:v>Phi-4-mini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0.46</c:v>
                </c:pt>
                <c:pt idx="1">
                  <c:v>0.61350000000000005</c:v>
                </c:pt>
                <c:pt idx="2">
                  <c:v>0.63400000000000001</c:v>
                </c:pt>
                <c:pt idx="3">
                  <c:v>0.70079999999999998</c:v>
                </c:pt>
                <c:pt idx="4">
                  <c:v>0.69920000000000004</c:v>
                </c:pt>
                <c:pt idx="5">
                  <c:v>0.69940000000000002</c:v>
                </c:pt>
                <c:pt idx="6">
                  <c:v>0.71289999999999998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E10C-4713-95DF-1106797387A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75"/>
          <c:min val="0.3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2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o-RO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Qwen3-0.6B</c:v>
                </c:pt>
              </c:strCache>
            </c:strRef>
          </c:tx>
          <c:spPr>
            <a:ln w="31750" cap="flat">
              <a:solidFill>
                <a:srgbClr val="1A2B4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A2B4A"/>
              </a:solidFill>
              <a:ln w="9525" cap="flat">
                <a:solidFill>
                  <a:srgbClr val="1A2B4A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r=4</c:v>
                </c:pt>
                <c:pt idx="1">
                  <c:v>r=16</c:v>
                </c:pt>
                <c:pt idx="2">
                  <c:v>r=32</c:v>
                </c:pt>
                <c:pt idx="3">
                  <c:v>r=64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0.68489999999999995</c:v>
                </c:pt>
                <c:pt idx="1">
                  <c:v>0.70079999999999998</c:v>
                </c:pt>
                <c:pt idx="2">
                  <c:v>0.66320000000000001</c:v>
                </c:pt>
                <c:pt idx="3">
                  <c:v>0.69440000000000002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FE4-4C17-BFDE-658D157047E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Llama-1B</c:v>
                </c:pt>
              </c:strCache>
            </c:strRef>
          </c:tx>
          <c:spPr>
            <a:ln w="31750" cap="flat">
              <a:solidFill>
                <a:srgbClr val="3B9BD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B9BDB"/>
              </a:solidFill>
              <a:ln w="9525" cap="flat">
                <a:solidFill>
                  <a:srgbClr val="3B9BDB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r=4</c:v>
                </c:pt>
                <c:pt idx="1">
                  <c:v>r=16</c:v>
                </c:pt>
                <c:pt idx="2">
                  <c:v>r=32</c:v>
                </c:pt>
                <c:pt idx="3">
                  <c:v>r=64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0.6835</c:v>
                </c:pt>
                <c:pt idx="1">
                  <c:v>0.68420000000000003</c:v>
                </c:pt>
                <c:pt idx="2">
                  <c:v>0.68889999999999996</c:v>
                </c:pt>
                <c:pt idx="3">
                  <c:v>0.69920000000000004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FE4-4C17-BFDE-658D157047E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Mistral-3B</c:v>
                </c:pt>
              </c:strCache>
            </c:strRef>
          </c:tx>
          <c:spPr>
            <a:ln w="31750" cap="flat">
              <a:solidFill>
                <a:srgbClr val="1D8A6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D8A6E"/>
              </a:solidFill>
              <a:ln w="9525" cap="flat">
                <a:solidFill>
                  <a:srgbClr val="1D8A6E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r=4</c:v>
                </c:pt>
                <c:pt idx="1">
                  <c:v>r=16</c:v>
                </c:pt>
                <c:pt idx="2">
                  <c:v>r=32</c:v>
                </c:pt>
                <c:pt idx="3">
                  <c:v>r=64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0.69520000000000004</c:v>
                </c:pt>
                <c:pt idx="1">
                  <c:v>0.67810000000000004</c:v>
                </c:pt>
                <c:pt idx="2">
                  <c:v>0.69350000000000001</c:v>
                </c:pt>
                <c:pt idx="3">
                  <c:v>0.69940000000000002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FE4-4C17-BFDE-658D157047E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Phi-4-mini</c:v>
                </c:pt>
              </c:strCache>
            </c:strRef>
          </c:tx>
          <c:spPr>
            <a:ln w="31750" cap="flat">
              <a:solidFill>
                <a:srgbClr val="E07B2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07B25"/>
              </a:solidFill>
              <a:ln w="9525" cap="flat">
                <a:solidFill>
                  <a:srgbClr val="E07B25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r=4</c:v>
                </c:pt>
                <c:pt idx="1">
                  <c:v>r=16</c:v>
                </c:pt>
                <c:pt idx="2">
                  <c:v>r=32</c:v>
                </c:pt>
                <c:pt idx="3">
                  <c:v>r=64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0.69750000000000001</c:v>
                </c:pt>
                <c:pt idx="2">
                  <c:v>0.71099999999999997</c:v>
                </c:pt>
                <c:pt idx="3">
                  <c:v>0.71289999999999998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FE4-4C17-BFDE-658D157047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73"/>
          <c:min val="0.63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o-RO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Macro-F1</c:v>
                </c:pt>
              </c:strCache>
            </c:strRef>
          </c:tx>
          <c:spPr>
            <a:solidFill>
              <a:srgbClr val="3B9BD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3B9BD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39F-4667-94BF-0BF19458D9F7}"/>
              </c:ext>
            </c:extLst>
          </c:dPt>
          <c:dPt>
            <c:idx val="1"/>
            <c:invertIfNegative val="0"/>
            <c:bubble3D val="0"/>
            <c:spPr>
              <a:solidFill>
                <a:srgbClr val="1D8A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39F-4667-94BF-0BF19458D9F7}"/>
              </c:ext>
            </c:extLst>
          </c:dPt>
          <c:dPt>
            <c:idx val="2"/>
            <c:invertIfNegative val="0"/>
            <c:bubble3D val="0"/>
            <c:spPr>
              <a:solidFill>
                <a:srgbClr val="E07B2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39F-4667-94BF-0BF19458D9F7}"/>
              </c:ext>
            </c:extLst>
          </c:dPt>
          <c:dPt>
            <c:idx val="3"/>
            <c:invertIfNegative val="0"/>
            <c:bubble3D val="0"/>
            <c:spPr>
              <a:solidFill>
                <a:srgbClr val="2D5DA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39F-4667-94BF-0BF19458D9F7}"/>
              </c:ext>
            </c:extLst>
          </c:dPt>
          <c:dLbls>
            <c:delete val="1"/>
          </c:dLbls>
          <c:cat>
            <c:strRef>
              <c:f>Sheet1!$A$2:$A$5</c:f>
              <c:strCache>
                <c:ptCount val="4"/>
                <c:pt idx="0">
                  <c:v>Short
(1-5)</c:v>
                </c:pt>
                <c:pt idx="1">
                  <c:v>Medium
(6-10)</c:v>
                </c:pt>
                <c:pt idx="2">
                  <c:v>Long
(11-15)</c:v>
                </c:pt>
                <c:pt idx="3">
                  <c:v>Very Long
(15+)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0.53</c:v>
                </c:pt>
                <c:pt idx="1">
                  <c:v>0.70499999999999996</c:v>
                </c:pt>
                <c:pt idx="2">
                  <c:v>0.61299999999999999</c:v>
                </c:pt>
                <c:pt idx="3">
                  <c:v>0.70099999999999996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39F-4667-94BF-0BF19458D9F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75"/>
          <c:min val="0.4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1281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B9BDB"/>
          </a:solidFill>
          <a:ln w="12700">
            <a:solidFill>
              <a:srgbClr val="3B9BDB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412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Unsafe Reasoning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Trajectories in LLMs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26060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Study: BERT · LoRA Fine-Tuned Decoder LLMs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3154680"/>
            <a:ext cx="8229600" cy="13716"/>
          </a:xfrm>
          <a:prstGeom prst="rect">
            <a:avLst/>
          </a:prstGeom>
          <a:solidFill>
            <a:srgbClr val="7A92A8"/>
          </a:solidFill>
          <a:ln w="12700">
            <a:solidFill>
              <a:srgbClr val="7A92A8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Stefan-Alexandru Voica  ·  David-Stefan Pocovnicu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Computer Science, University of Bucharest  ·  May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9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PAN-CLEF 2026 Shared Task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645920" cy="274320"/>
          </a:xfrm>
          <a:prstGeom prst="rect">
            <a:avLst/>
          </a:prstGeom>
          <a:solidFill>
            <a:srgbClr val="3B9BDB"/>
          </a:solidFill>
          <a:ln w="12700">
            <a:solidFill>
              <a:srgbClr val="3B9BDB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077811" y="77724"/>
            <a:ext cx="687024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Reasoning Trajectories Are a Safety Risk?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3B9BDB"/>
          </a:solidFill>
          <a:ln w="12700">
            <a:solidFill>
              <a:srgbClr val="3B9BDB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6" name="Text 4"/>
          <p:cNvSpPr/>
          <p:nvPr/>
        </p:nvSpPr>
        <p:spPr>
          <a:xfrm>
            <a:off x="320040" y="1051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5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Reasoning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46304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LLMs (DeepSeek-R1, Qwen3) expose intermediate reasoning steps before answering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steps can contain harmful content even when the final answer looks benign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safety filters only check input + final output — the trace is invisible to them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2D5DA1"/>
          </a:solidFill>
          <a:ln w="12700">
            <a:solidFill>
              <a:srgbClr val="2D5DA1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9" name="Text 7"/>
          <p:cNvSpPr/>
          <p:nvPr/>
        </p:nvSpPr>
        <p:spPr>
          <a:xfrm>
            <a:off x="4754880" y="10515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766560" y="1645920"/>
            <a:ext cx="0" cy="137160"/>
          </a:xfrm>
          <a:prstGeom prst="line">
            <a:avLst/>
          </a:prstGeom>
          <a:noFill/>
          <a:ln w="19050">
            <a:solidFill>
              <a:srgbClr val="7A92A8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1" name="Shape 9"/>
          <p:cNvSpPr/>
          <p:nvPr/>
        </p:nvSpPr>
        <p:spPr>
          <a:xfrm>
            <a:off x="4754880" y="178308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2" name="Text 10"/>
          <p:cNvSpPr/>
          <p:nvPr/>
        </p:nvSpPr>
        <p:spPr>
          <a:xfrm>
            <a:off x="4754880" y="18288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Step 1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(hidden)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766560" y="2423160"/>
            <a:ext cx="0" cy="137160"/>
          </a:xfrm>
          <a:prstGeom prst="line">
            <a:avLst/>
          </a:prstGeom>
          <a:noFill/>
          <a:ln w="19050">
            <a:solidFill>
              <a:srgbClr val="7A92A8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4" name="Shape 12"/>
          <p:cNvSpPr/>
          <p:nvPr/>
        </p:nvSpPr>
        <p:spPr>
          <a:xfrm>
            <a:off x="4754880" y="256032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1D8A6E"/>
          </a:solidFill>
          <a:ln w="1270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5" name="Text 13"/>
          <p:cNvSpPr/>
          <p:nvPr/>
        </p:nvSpPr>
        <p:spPr>
          <a:xfrm>
            <a:off x="4754880" y="26060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Step 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766560" y="3200400"/>
            <a:ext cx="0" cy="137160"/>
          </a:xfrm>
          <a:prstGeom prst="line">
            <a:avLst/>
          </a:prstGeom>
          <a:noFill/>
          <a:ln w="19050">
            <a:solidFill>
              <a:srgbClr val="7A92A8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7" name="Shape 15"/>
          <p:cNvSpPr/>
          <p:nvPr/>
        </p:nvSpPr>
        <p:spPr>
          <a:xfrm>
            <a:off x="4754880" y="333756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1D8A6E"/>
          </a:solidFill>
          <a:ln w="1270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8" name="Text 16"/>
          <p:cNvSpPr/>
          <p:nvPr/>
        </p:nvSpPr>
        <p:spPr>
          <a:xfrm>
            <a:off x="4754880" y="33832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(benign)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1737360"/>
            <a:ext cx="4023360" cy="822960"/>
          </a:xfrm>
          <a:prstGeom prst="rect">
            <a:avLst/>
          </a:prstGeom>
          <a:solidFill>
            <a:srgbClr val="FDECEA">
              <a:alpha val="80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20" name="Text 18"/>
          <p:cNvSpPr/>
          <p:nvPr/>
        </p:nvSpPr>
        <p:spPr>
          <a:xfrm>
            <a:off x="4846320" y="17556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Harmful content in trace!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645920" cy="274320"/>
          </a:xfrm>
          <a:prstGeom prst="rect">
            <a:avLst/>
          </a:prstGeom>
          <a:solidFill>
            <a:srgbClr val="3B9BDB"/>
          </a:solidFill>
          <a:ln w="12700">
            <a:solidFill>
              <a:srgbClr val="3B9BDB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081893" y="457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PAN-CLEF 2026 — Task &amp; Data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3B9BDB"/>
          </a:solidFill>
          <a:ln w="12700">
            <a:solidFill>
              <a:srgbClr val="3B9BDB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6" name="Text 4"/>
          <p:cNvSpPr/>
          <p:nvPr/>
        </p:nvSpPr>
        <p:spPr>
          <a:xfrm>
            <a:off x="320040" y="96012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5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3-class classification: safe  |  potentially_unsafe  |  unsafe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2011680" cy="10058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8" name="Text 6"/>
          <p:cNvSpPr/>
          <p:nvPr/>
        </p:nvSpPr>
        <p:spPr>
          <a:xfrm>
            <a:off x="320040" y="1508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6,300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20040" y="2057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examples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1463040"/>
            <a:ext cx="2011680" cy="1005840"/>
          </a:xfrm>
          <a:prstGeom prst="rect">
            <a:avLst/>
          </a:prstGeom>
          <a:solidFill>
            <a:srgbClr val="2D5DA1"/>
          </a:solidFill>
          <a:ln w="12700">
            <a:solidFill>
              <a:srgbClr val="2D5DA1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1" name="Text 9"/>
          <p:cNvSpPr/>
          <p:nvPr/>
        </p:nvSpPr>
        <p:spPr>
          <a:xfrm>
            <a:off x="2468880" y="1508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468880" y="2057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val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1463040"/>
            <a:ext cx="2011680" cy="1005840"/>
          </a:xfrm>
          <a:prstGeom prst="rect">
            <a:avLst/>
          </a:prstGeom>
          <a:solidFill>
            <a:srgbClr val="1D8A6E"/>
          </a:solidFill>
          <a:ln w="1270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4" name="Text 12"/>
          <p:cNvSpPr/>
          <p:nvPr/>
        </p:nvSpPr>
        <p:spPr>
          <a:xfrm>
            <a:off x="4617720" y="1508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2,200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617720" y="2057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examples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1463040"/>
            <a:ext cx="2011680" cy="1005840"/>
          </a:xfrm>
          <a:prstGeom prst="rect">
            <a:avLst/>
          </a:prstGeom>
          <a:solidFill>
            <a:srgbClr val="3B9BDB"/>
          </a:solidFill>
          <a:ln w="12700">
            <a:solidFill>
              <a:srgbClr val="3B9BDB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7" name="Text 15"/>
          <p:cNvSpPr/>
          <p:nvPr/>
        </p:nvSpPr>
        <p:spPr>
          <a:xfrm>
            <a:off x="6766560" y="1508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1,024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766560" y="2057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tokens (LLMs)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743200"/>
            <a:ext cx="2743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20" name="Shape 18"/>
          <p:cNvSpPr/>
          <p:nvPr/>
        </p:nvSpPr>
        <p:spPr>
          <a:xfrm>
            <a:off x="320040" y="2743200"/>
            <a:ext cx="1234440" cy="457200"/>
          </a:xfrm>
          <a:prstGeom prst="rect">
            <a:avLst/>
          </a:prstGeom>
          <a:solidFill>
            <a:srgbClr val="1D8A6E"/>
          </a:solidFill>
          <a:ln w="1270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21" name="Text 19"/>
          <p:cNvSpPr/>
          <p:nvPr/>
        </p:nvSpPr>
        <p:spPr>
          <a:xfrm>
            <a:off x="32004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 45%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154680" y="2743200"/>
            <a:ext cx="2743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23" name="Shape 21"/>
          <p:cNvSpPr/>
          <p:nvPr/>
        </p:nvSpPr>
        <p:spPr>
          <a:xfrm>
            <a:off x="3154680" y="2743200"/>
            <a:ext cx="548640" cy="457200"/>
          </a:xfrm>
          <a:prstGeom prst="rect">
            <a:avLst/>
          </a:prstGeom>
          <a:solidFill>
            <a:srgbClr val="E07B25"/>
          </a:solidFill>
          <a:ln w="12700">
            <a:solidFill>
              <a:srgbClr val="E07B25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24" name="Text 22"/>
          <p:cNvSpPr/>
          <p:nvPr/>
        </p:nvSpPr>
        <p:spPr>
          <a:xfrm>
            <a:off x="315468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potentially_unsafe  20%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989320" y="2743200"/>
            <a:ext cx="2743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26" name="Shape 24"/>
          <p:cNvSpPr/>
          <p:nvPr/>
        </p:nvSpPr>
        <p:spPr>
          <a:xfrm>
            <a:off x="5989320" y="2743200"/>
            <a:ext cx="96012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27" name="Text 25"/>
          <p:cNvSpPr/>
          <p:nvPr/>
        </p:nvSpPr>
        <p:spPr>
          <a:xfrm>
            <a:off x="598932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 35%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0040" y="370332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query + </a:t>
            </a:r>
            <a:r>
              <a:rPr lang="en-US" sz="1200" i="1" dirty="0" err="1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reasoning_trace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0040" y="406908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Truncation: 73.9% of examples exceed 512 tokens (BERT); 35.2% exceed 1,024 (decoder models)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645920" cy="274320"/>
          </a:xfrm>
          <a:prstGeom prst="rect">
            <a:avLst/>
          </a:prstGeom>
          <a:solidFill>
            <a:srgbClr val="3B9BDB"/>
          </a:solidFill>
          <a:ln w="12700">
            <a:solidFill>
              <a:srgbClr val="3B9BDB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118632" y="109728"/>
            <a:ext cx="621583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Approaches: Classic to State-of-the-Art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3B9BDB"/>
          </a:solidFill>
          <a:ln w="12700">
            <a:solidFill>
              <a:srgbClr val="3B9BDB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2834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6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2834640" cy="292608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371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SVM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737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 features, linear kernel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64408" y="1051560"/>
            <a:ext cx="2834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6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2" name="Shape 10"/>
          <p:cNvSpPr/>
          <p:nvPr/>
        </p:nvSpPr>
        <p:spPr>
          <a:xfrm>
            <a:off x="3264408" y="1051560"/>
            <a:ext cx="2834640" cy="292608"/>
          </a:xfrm>
          <a:prstGeom prst="rect">
            <a:avLst/>
          </a:prstGeom>
          <a:solidFill>
            <a:srgbClr val="2D5DA1"/>
          </a:solidFill>
          <a:ln w="12700">
            <a:solidFill>
              <a:srgbClr val="2D5DA1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3" name="Text 11"/>
          <p:cNvSpPr/>
          <p:nvPr/>
        </p:nvSpPr>
        <p:spPr>
          <a:xfrm>
            <a:off x="3264408" y="10515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55848" y="1371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BERT-base / large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55848" y="1737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fine-tune, 512 tokens, [CLS] head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08776" y="1051560"/>
            <a:ext cx="2834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6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7" name="Shape 15"/>
          <p:cNvSpPr/>
          <p:nvPr/>
        </p:nvSpPr>
        <p:spPr>
          <a:xfrm>
            <a:off x="6208776" y="1051560"/>
            <a:ext cx="2834640" cy="292608"/>
          </a:xfrm>
          <a:prstGeom prst="rect">
            <a:avLst/>
          </a:prstGeom>
          <a:solidFill>
            <a:srgbClr val="1D8A6E"/>
          </a:solidFill>
          <a:ln w="1270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8" name="Text 16"/>
          <p:cNvSpPr/>
          <p:nvPr/>
        </p:nvSpPr>
        <p:spPr>
          <a:xfrm>
            <a:off x="6208776" y="10515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0216" y="1371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Qwen3-0.6B + LoRA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0216" y="1737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0.6B params, 1,024 hidden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2468880"/>
            <a:ext cx="2834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6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22" name="Shape 20"/>
          <p:cNvSpPr/>
          <p:nvPr/>
        </p:nvSpPr>
        <p:spPr>
          <a:xfrm>
            <a:off x="320040" y="2468880"/>
            <a:ext cx="2834640" cy="292608"/>
          </a:xfrm>
          <a:prstGeom prst="rect">
            <a:avLst/>
          </a:prstGeom>
          <a:solidFill>
            <a:srgbClr val="1D8A6E"/>
          </a:solidFill>
          <a:ln w="1270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23" name="Text 21"/>
          <p:cNvSpPr/>
          <p:nvPr/>
        </p:nvSpPr>
        <p:spPr>
          <a:xfrm>
            <a:off x="320040" y="24688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2788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Llama-3.2-1B + LoRA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11480" y="3154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1B params, 2,048 hidden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64408" y="2468880"/>
            <a:ext cx="2834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6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27" name="Shape 25"/>
          <p:cNvSpPr/>
          <p:nvPr/>
        </p:nvSpPr>
        <p:spPr>
          <a:xfrm>
            <a:off x="3264408" y="2468880"/>
            <a:ext cx="2834640" cy="292608"/>
          </a:xfrm>
          <a:prstGeom prst="rect">
            <a:avLst/>
          </a:prstGeom>
          <a:solidFill>
            <a:srgbClr val="2D5DA1"/>
          </a:solidFill>
          <a:ln w="12700">
            <a:solidFill>
              <a:srgbClr val="2D5DA1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28" name="Text 26"/>
          <p:cNvSpPr/>
          <p:nvPr/>
        </p:nvSpPr>
        <p:spPr>
          <a:xfrm>
            <a:off x="3264408" y="24688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55848" y="2788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Mistral-3B + LoRA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355848" y="3154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 params, 3,072 hidden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08776" y="2468880"/>
            <a:ext cx="2834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6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32" name="Shape 30"/>
          <p:cNvSpPr/>
          <p:nvPr/>
        </p:nvSpPr>
        <p:spPr>
          <a:xfrm>
            <a:off x="6208776" y="2468880"/>
            <a:ext cx="2834640" cy="292608"/>
          </a:xfrm>
          <a:prstGeom prst="rect">
            <a:avLst/>
          </a:prstGeom>
          <a:solidFill>
            <a:srgbClr val="3B9BDB"/>
          </a:solidFill>
          <a:ln w="12700">
            <a:solidFill>
              <a:srgbClr val="3B9BDB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33" name="Text 31"/>
          <p:cNvSpPr/>
          <p:nvPr/>
        </p:nvSpPr>
        <p:spPr>
          <a:xfrm>
            <a:off x="6208776" y="24688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00216" y="2788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Phi-4-mini + LoRA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00216" y="3154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3.8B, reasoning-focused pre-train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645920" cy="274320"/>
          </a:xfrm>
          <a:prstGeom prst="rect">
            <a:avLst/>
          </a:prstGeom>
          <a:solidFill>
            <a:srgbClr val="3B9BDB"/>
          </a:solidFill>
          <a:ln w="12700">
            <a:solidFill>
              <a:srgbClr val="3B9BDB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086761" y="121766"/>
            <a:ext cx="53374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+ Classifier Head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94" y="872874"/>
            <a:ext cx="9144000" cy="36576"/>
          </a:xfrm>
          <a:prstGeom prst="rect">
            <a:avLst/>
          </a:prstGeom>
          <a:solidFill>
            <a:srgbClr val="3B9BDB"/>
          </a:solidFill>
          <a:ln w="12700">
            <a:solidFill>
              <a:srgbClr val="3B9BDB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6" name="Shape 4"/>
          <p:cNvSpPr/>
          <p:nvPr/>
        </p:nvSpPr>
        <p:spPr>
          <a:xfrm>
            <a:off x="137160" y="1097280"/>
            <a:ext cx="1872003" cy="777240"/>
          </a:xfrm>
          <a:prstGeom prst="roundRect">
            <a:avLst>
              <a:gd name="adj" fmla="val 9412"/>
            </a:avLst>
          </a:prstGeom>
          <a:solidFill>
            <a:srgbClr val="DDE8F0"/>
          </a:solidFill>
          <a:ln w="12700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7" name="Text 5"/>
          <p:cNvSpPr/>
          <p:nvPr/>
        </p:nvSpPr>
        <p:spPr>
          <a:xfrm>
            <a:off x="137160" y="1097280"/>
            <a:ext cx="187200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+ reasoning_trace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09163" y="1478560"/>
            <a:ext cx="164592" cy="0"/>
          </a:xfrm>
          <a:prstGeom prst="line">
            <a:avLst/>
          </a:prstGeom>
          <a:noFill/>
          <a:ln w="19050">
            <a:solidFill>
              <a:srgbClr val="7A92A8"/>
            </a:solidFill>
            <a:prstDash val="solid"/>
          </a:ln>
        </p:spPr>
        <p:txBody>
          <a:bodyPr/>
          <a:lstStyle/>
          <a:p>
            <a:endParaRPr lang="ro-RO" dirty="0"/>
          </a:p>
        </p:txBody>
      </p:sp>
      <p:sp>
        <p:nvSpPr>
          <p:cNvPr id="9" name="Shape 7"/>
          <p:cNvSpPr/>
          <p:nvPr/>
        </p:nvSpPr>
        <p:spPr>
          <a:xfrm>
            <a:off x="2173755" y="1088136"/>
            <a:ext cx="993089" cy="777240"/>
          </a:xfrm>
          <a:prstGeom prst="roundRect">
            <a:avLst>
              <a:gd name="adj" fmla="val 9412"/>
            </a:avLst>
          </a:prstGeom>
          <a:solidFill>
            <a:srgbClr val="2D5DA1"/>
          </a:solidFill>
          <a:ln w="12700">
            <a:solidFill>
              <a:srgbClr val="2D5DA1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0" name="Text 8"/>
          <p:cNvSpPr/>
          <p:nvPr/>
        </p:nvSpPr>
        <p:spPr>
          <a:xfrm>
            <a:off x="2239861" y="1097280"/>
            <a:ext cx="85987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(max 1,024)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66844" y="1478560"/>
            <a:ext cx="164592" cy="0"/>
          </a:xfrm>
          <a:prstGeom prst="line">
            <a:avLst/>
          </a:prstGeom>
          <a:noFill/>
          <a:ln w="19050">
            <a:solidFill>
              <a:srgbClr val="7A92A8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2" name="Shape 10"/>
          <p:cNvSpPr/>
          <p:nvPr/>
        </p:nvSpPr>
        <p:spPr>
          <a:xfrm>
            <a:off x="3330430" y="1106424"/>
            <a:ext cx="1645920" cy="777240"/>
          </a:xfrm>
          <a:prstGeom prst="roundRect">
            <a:avLst>
              <a:gd name="adj" fmla="val 9412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3" name="Text 11"/>
          <p:cNvSpPr/>
          <p:nvPr/>
        </p:nvSpPr>
        <p:spPr>
          <a:xfrm>
            <a:off x="3472706" y="1097280"/>
            <a:ext cx="117999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LLM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76350" y="1462831"/>
            <a:ext cx="164592" cy="0"/>
          </a:xfrm>
          <a:prstGeom prst="line">
            <a:avLst/>
          </a:prstGeom>
          <a:noFill/>
          <a:ln w="19050">
            <a:solidFill>
              <a:srgbClr val="7A92A8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5" name="Shape 13"/>
          <p:cNvSpPr/>
          <p:nvPr/>
        </p:nvSpPr>
        <p:spPr>
          <a:xfrm>
            <a:off x="5139936" y="1106424"/>
            <a:ext cx="1395088" cy="777240"/>
          </a:xfrm>
          <a:prstGeom prst="roundRect">
            <a:avLst>
              <a:gd name="adj" fmla="val 9412"/>
            </a:avLst>
          </a:prstGeom>
          <a:solidFill>
            <a:srgbClr val="3B9BDB"/>
          </a:solidFill>
          <a:ln w="12700">
            <a:solidFill>
              <a:srgbClr val="3B9BDB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6" name="Text 14"/>
          <p:cNvSpPr/>
          <p:nvPr/>
        </p:nvSpPr>
        <p:spPr>
          <a:xfrm>
            <a:off x="5117620" y="10972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q/k/v/o_proj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35024" y="1462831"/>
            <a:ext cx="164592" cy="0"/>
          </a:xfrm>
          <a:prstGeom prst="line">
            <a:avLst/>
          </a:prstGeom>
          <a:noFill/>
          <a:ln w="19050">
            <a:solidFill>
              <a:srgbClr val="7A92A8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8" name="Shape 16"/>
          <p:cNvSpPr/>
          <p:nvPr/>
        </p:nvSpPr>
        <p:spPr>
          <a:xfrm>
            <a:off x="6698610" y="1089940"/>
            <a:ext cx="1261703" cy="777240"/>
          </a:xfrm>
          <a:prstGeom prst="roundRect">
            <a:avLst>
              <a:gd name="adj" fmla="val 9412"/>
            </a:avLst>
          </a:prstGeom>
          <a:solidFill>
            <a:srgbClr val="1D8A6E"/>
          </a:solidFill>
          <a:ln w="1270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9" name="Text 17"/>
          <p:cNvSpPr/>
          <p:nvPr/>
        </p:nvSpPr>
        <p:spPr>
          <a:xfrm>
            <a:off x="6731075" y="1123244"/>
            <a:ext cx="126170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Pooling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(attention mask)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960313" y="1485900"/>
            <a:ext cx="164592" cy="0"/>
          </a:xfrm>
          <a:prstGeom prst="line">
            <a:avLst/>
          </a:prstGeom>
          <a:noFill/>
          <a:ln w="19050">
            <a:solidFill>
              <a:srgbClr val="7A92A8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21" name="Shape 19"/>
          <p:cNvSpPr/>
          <p:nvPr/>
        </p:nvSpPr>
        <p:spPr>
          <a:xfrm>
            <a:off x="8124905" y="1104033"/>
            <a:ext cx="956179" cy="777240"/>
          </a:xfrm>
          <a:prstGeom prst="roundRect">
            <a:avLst>
              <a:gd name="adj" fmla="val 9412"/>
            </a:avLst>
          </a:prstGeom>
          <a:solidFill>
            <a:srgbClr val="2D5DA1"/>
          </a:solidFill>
          <a:ln w="12700">
            <a:solidFill>
              <a:srgbClr val="2D5DA1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22" name="Text 20"/>
          <p:cNvSpPr/>
          <p:nvPr/>
        </p:nvSpPr>
        <p:spPr>
          <a:xfrm>
            <a:off x="8257032" y="1097280"/>
            <a:ext cx="8240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Head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 classes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" y="210312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20040" y="2514600"/>
            <a:ext cx="1645920" cy="347472"/>
          </a:xfrm>
          <a:prstGeom prst="rect">
            <a:avLst/>
          </a:prstGeom>
          <a:solidFill>
            <a:srgbClr val="3B9BDB"/>
          </a:solidFill>
          <a:ln w="12700">
            <a:solidFill>
              <a:srgbClr val="3B9BDB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25" name="Text 23"/>
          <p:cNvSpPr/>
          <p:nvPr/>
        </p:nvSpPr>
        <p:spPr>
          <a:xfrm>
            <a:off x="320040" y="25146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targets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057400" y="2551176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q_proj, k_proj, v_proj, o_proj on ALL layers  |  α = 2r  |  dropout = 0.1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2971800"/>
            <a:ext cx="1645920" cy="347472"/>
          </a:xfrm>
          <a:prstGeom prst="rect">
            <a:avLst/>
          </a:prstGeom>
          <a:solidFill>
            <a:srgbClr val="3B9BDB"/>
          </a:solidFill>
          <a:ln w="12700">
            <a:solidFill>
              <a:srgbClr val="3B9BDB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28" name="Text 26"/>
          <p:cNvSpPr/>
          <p:nvPr/>
        </p:nvSpPr>
        <p:spPr>
          <a:xfrm>
            <a:off x="320040" y="29718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tested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057400" y="3008376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∈ {4, 16, 32, 64}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3429000"/>
            <a:ext cx="1645920" cy="347472"/>
          </a:xfrm>
          <a:prstGeom prst="rect">
            <a:avLst/>
          </a:prstGeom>
          <a:solidFill>
            <a:srgbClr val="3B9BDB"/>
          </a:solidFill>
          <a:ln w="12700">
            <a:solidFill>
              <a:srgbClr val="3B9BDB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31" name="Text 29"/>
          <p:cNvSpPr/>
          <p:nvPr/>
        </p:nvSpPr>
        <p:spPr>
          <a:xfrm>
            <a:off x="320040" y="34290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057400" y="3465576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Attention-mask-weighted mean of all hidden states (integrates full trajectory)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" y="3886200"/>
            <a:ext cx="1645920" cy="347472"/>
          </a:xfrm>
          <a:prstGeom prst="rect">
            <a:avLst/>
          </a:prstGeom>
          <a:solidFill>
            <a:srgbClr val="3B9BDB"/>
          </a:solidFill>
          <a:ln w="12700">
            <a:solidFill>
              <a:srgbClr val="3B9BDB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34" name="Text 32"/>
          <p:cNvSpPr/>
          <p:nvPr/>
        </p:nvSpPr>
        <p:spPr>
          <a:xfrm>
            <a:off x="320040" y="38862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057400" y="3922776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√-dampened: w_c = 1/√f_c  (plain 1/f_c was too aggressive → accuracy stalled ~72%, F1 ~0.49)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" y="4343400"/>
            <a:ext cx="1645920" cy="347472"/>
          </a:xfrm>
          <a:prstGeom prst="rect">
            <a:avLst/>
          </a:prstGeom>
          <a:solidFill>
            <a:srgbClr val="3B9BDB"/>
          </a:solidFill>
          <a:ln w="12700">
            <a:solidFill>
              <a:srgbClr val="3B9BDB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37" name="Text 35"/>
          <p:cNvSpPr/>
          <p:nvPr/>
        </p:nvSpPr>
        <p:spPr>
          <a:xfrm>
            <a:off x="320040" y="43434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057400" y="4379976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512-token chunks on Qwen3 — accuracy capped at 65%, reverted to hard truncation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645920" cy="274320"/>
          </a:xfrm>
          <a:prstGeom prst="rect">
            <a:avLst/>
          </a:prstGeom>
          <a:solidFill>
            <a:srgbClr val="3B9BDB"/>
          </a:solidFill>
          <a:ln w="12700">
            <a:solidFill>
              <a:srgbClr val="3B9BDB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183235" y="164592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Results: All Models on Test Set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3B9BDB"/>
          </a:solidFill>
          <a:ln w="12700">
            <a:solidFill>
              <a:srgbClr val="3B9BDB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graphicFrame>
        <p:nvGraphicFramePr>
          <p:cNvPr id="6" name="Chart 0"/>
          <p:cNvGraphicFramePr/>
          <p:nvPr/>
        </p:nvGraphicFramePr>
        <p:xfrm>
          <a:off x="320040" y="960120"/>
          <a:ext cx="53035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715000" y="960120"/>
            <a:ext cx="2103120" cy="438912"/>
          </a:xfrm>
          <a:prstGeom prst="rect">
            <a:avLst/>
          </a:prstGeom>
          <a:solidFill>
            <a:srgbClr val="1A2B4A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8" name="Text 5"/>
          <p:cNvSpPr/>
          <p:nvPr/>
        </p:nvSpPr>
        <p:spPr>
          <a:xfrm>
            <a:off x="5715000" y="960120"/>
            <a:ext cx="2103120" cy="43891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818120" y="960120"/>
            <a:ext cx="731520" cy="438912"/>
          </a:xfrm>
          <a:prstGeom prst="rect">
            <a:avLst/>
          </a:prstGeom>
          <a:solidFill>
            <a:srgbClr val="1A2B4A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0" name="Text 7"/>
          <p:cNvSpPr/>
          <p:nvPr/>
        </p:nvSpPr>
        <p:spPr>
          <a:xfrm>
            <a:off x="7818120" y="96012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549640" y="960120"/>
            <a:ext cx="640080" cy="438912"/>
          </a:xfrm>
          <a:prstGeom prst="rect">
            <a:avLst/>
          </a:prstGeom>
          <a:solidFill>
            <a:srgbClr val="1A2B4A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2" name="Text 9"/>
          <p:cNvSpPr/>
          <p:nvPr/>
        </p:nvSpPr>
        <p:spPr>
          <a:xfrm>
            <a:off x="8549640" y="960120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715000" y="1435608"/>
            <a:ext cx="21031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4" name="Text 11"/>
          <p:cNvSpPr/>
          <p:nvPr/>
        </p:nvSpPr>
        <p:spPr>
          <a:xfrm>
            <a:off x="5715000" y="1435608"/>
            <a:ext cx="2103120" cy="43891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TF-IDF+SVM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818120" y="1435608"/>
            <a:ext cx="7315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6" name="Text 13"/>
          <p:cNvSpPr/>
          <p:nvPr/>
        </p:nvSpPr>
        <p:spPr>
          <a:xfrm>
            <a:off x="7818120" y="1435608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59.2%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549640" y="1435608"/>
            <a:ext cx="640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8" name="Text 15"/>
          <p:cNvSpPr/>
          <p:nvPr/>
        </p:nvSpPr>
        <p:spPr>
          <a:xfrm>
            <a:off x="8549640" y="1435608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0.46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715000" y="1911096"/>
            <a:ext cx="2103120" cy="438912"/>
          </a:xfrm>
          <a:prstGeom prst="rect">
            <a:avLst/>
          </a:prstGeom>
          <a:solidFill>
            <a:srgbClr val="EDF3FA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20" name="Text 17"/>
          <p:cNvSpPr/>
          <p:nvPr/>
        </p:nvSpPr>
        <p:spPr>
          <a:xfrm>
            <a:off x="5715000" y="1911096"/>
            <a:ext cx="2103120" cy="43891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BERT-base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818120" y="1911096"/>
            <a:ext cx="731520" cy="438912"/>
          </a:xfrm>
          <a:prstGeom prst="rect">
            <a:avLst/>
          </a:prstGeom>
          <a:solidFill>
            <a:srgbClr val="EDF3FA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22" name="Text 19"/>
          <p:cNvSpPr/>
          <p:nvPr/>
        </p:nvSpPr>
        <p:spPr>
          <a:xfrm>
            <a:off x="7818120" y="1911096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66.2%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549640" y="1911096"/>
            <a:ext cx="640080" cy="438912"/>
          </a:xfrm>
          <a:prstGeom prst="rect">
            <a:avLst/>
          </a:prstGeom>
          <a:solidFill>
            <a:srgbClr val="EDF3FA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24" name="Text 21"/>
          <p:cNvSpPr/>
          <p:nvPr/>
        </p:nvSpPr>
        <p:spPr>
          <a:xfrm>
            <a:off x="8549640" y="1911096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715000" y="2386584"/>
            <a:ext cx="21031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26" name="Text 23"/>
          <p:cNvSpPr/>
          <p:nvPr/>
        </p:nvSpPr>
        <p:spPr>
          <a:xfrm>
            <a:off x="5715000" y="2386584"/>
            <a:ext cx="2103120" cy="43891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BERT-large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818120" y="2386584"/>
            <a:ext cx="7315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28" name="Text 25"/>
          <p:cNvSpPr/>
          <p:nvPr/>
        </p:nvSpPr>
        <p:spPr>
          <a:xfrm>
            <a:off x="7818120" y="2386584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68.5%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8549640" y="2386584"/>
            <a:ext cx="640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30" name="Text 27"/>
          <p:cNvSpPr/>
          <p:nvPr/>
        </p:nvSpPr>
        <p:spPr>
          <a:xfrm>
            <a:off x="8549640" y="2386584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5715000" y="2862072"/>
            <a:ext cx="2103120" cy="438912"/>
          </a:xfrm>
          <a:prstGeom prst="rect">
            <a:avLst/>
          </a:prstGeom>
          <a:solidFill>
            <a:srgbClr val="EDF3FA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32" name="Text 29"/>
          <p:cNvSpPr/>
          <p:nvPr/>
        </p:nvSpPr>
        <p:spPr>
          <a:xfrm>
            <a:off x="5715000" y="2862072"/>
            <a:ext cx="2103120" cy="43891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 r=16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7818120" y="2862072"/>
            <a:ext cx="731520" cy="438912"/>
          </a:xfrm>
          <a:prstGeom prst="rect">
            <a:avLst/>
          </a:prstGeom>
          <a:solidFill>
            <a:srgbClr val="EDF3FA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34" name="Text 31"/>
          <p:cNvSpPr/>
          <p:nvPr/>
        </p:nvSpPr>
        <p:spPr>
          <a:xfrm>
            <a:off x="7818120" y="2862072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78.1%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8549640" y="2862072"/>
            <a:ext cx="640080" cy="438912"/>
          </a:xfrm>
          <a:prstGeom prst="rect">
            <a:avLst/>
          </a:prstGeom>
          <a:solidFill>
            <a:srgbClr val="EDF3FA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36" name="Text 33"/>
          <p:cNvSpPr/>
          <p:nvPr/>
        </p:nvSpPr>
        <p:spPr>
          <a:xfrm>
            <a:off x="8549640" y="2862072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5715000" y="3337560"/>
            <a:ext cx="21031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38" name="Text 35"/>
          <p:cNvSpPr/>
          <p:nvPr/>
        </p:nvSpPr>
        <p:spPr>
          <a:xfrm>
            <a:off x="5715000" y="3337560"/>
            <a:ext cx="2103120" cy="43891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Llama-1B r=64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7818120" y="3337560"/>
            <a:ext cx="7315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40" name="Text 37"/>
          <p:cNvSpPr/>
          <p:nvPr/>
        </p:nvSpPr>
        <p:spPr>
          <a:xfrm>
            <a:off x="7818120" y="333756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77.5%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8549640" y="3337560"/>
            <a:ext cx="640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42" name="Text 39"/>
          <p:cNvSpPr/>
          <p:nvPr/>
        </p:nvSpPr>
        <p:spPr>
          <a:xfrm>
            <a:off x="8549640" y="3337560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5715000" y="3813048"/>
            <a:ext cx="2103120" cy="438912"/>
          </a:xfrm>
          <a:prstGeom prst="rect">
            <a:avLst/>
          </a:prstGeom>
          <a:solidFill>
            <a:srgbClr val="EDF3FA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44" name="Text 41"/>
          <p:cNvSpPr/>
          <p:nvPr/>
        </p:nvSpPr>
        <p:spPr>
          <a:xfrm>
            <a:off x="5715000" y="3813048"/>
            <a:ext cx="2103120" cy="43891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Mistral-3B r=64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7818120" y="3813048"/>
            <a:ext cx="731520" cy="438912"/>
          </a:xfrm>
          <a:prstGeom prst="rect">
            <a:avLst/>
          </a:prstGeom>
          <a:solidFill>
            <a:srgbClr val="EDF3FA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46" name="Text 43"/>
          <p:cNvSpPr/>
          <p:nvPr/>
        </p:nvSpPr>
        <p:spPr>
          <a:xfrm>
            <a:off x="7818120" y="3813048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79.0%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8549640" y="3813048"/>
            <a:ext cx="640080" cy="438912"/>
          </a:xfrm>
          <a:prstGeom prst="rect">
            <a:avLst/>
          </a:prstGeom>
          <a:solidFill>
            <a:srgbClr val="EDF3FA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48" name="Text 45"/>
          <p:cNvSpPr/>
          <p:nvPr/>
        </p:nvSpPr>
        <p:spPr>
          <a:xfrm>
            <a:off x="8549640" y="3813048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5715000" y="4288536"/>
            <a:ext cx="2103120" cy="438912"/>
          </a:xfrm>
          <a:prstGeom prst="rect">
            <a:avLst/>
          </a:prstGeom>
          <a:solidFill>
            <a:srgbClr val="3B9BDB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50" name="Text 47"/>
          <p:cNvSpPr/>
          <p:nvPr/>
        </p:nvSpPr>
        <p:spPr>
          <a:xfrm>
            <a:off x="5715000" y="4288536"/>
            <a:ext cx="2103120" cy="43891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Phi-4-mini r=64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7818120" y="4288536"/>
            <a:ext cx="731520" cy="438912"/>
          </a:xfrm>
          <a:prstGeom prst="rect">
            <a:avLst/>
          </a:prstGeom>
          <a:solidFill>
            <a:srgbClr val="3B9BDB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52" name="Text 49"/>
          <p:cNvSpPr/>
          <p:nvPr/>
        </p:nvSpPr>
        <p:spPr>
          <a:xfrm>
            <a:off x="7818120" y="4288536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79.5%</a:t>
            </a:r>
            <a:endParaRPr lang="en-US" sz="1200" dirty="0"/>
          </a:p>
        </p:txBody>
      </p:sp>
      <p:sp>
        <p:nvSpPr>
          <p:cNvPr id="53" name="Shape 50"/>
          <p:cNvSpPr/>
          <p:nvPr/>
        </p:nvSpPr>
        <p:spPr>
          <a:xfrm>
            <a:off x="8549640" y="4288536"/>
            <a:ext cx="640080" cy="438912"/>
          </a:xfrm>
          <a:prstGeom prst="rect">
            <a:avLst/>
          </a:prstGeom>
          <a:solidFill>
            <a:srgbClr val="3B9BDB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54" name="Text 51"/>
          <p:cNvSpPr/>
          <p:nvPr/>
        </p:nvSpPr>
        <p:spPr>
          <a:xfrm>
            <a:off x="8549640" y="4288536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645920" cy="274320"/>
          </a:xfrm>
          <a:prstGeom prst="rect">
            <a:avLst/>
          </a:prstGeom>
          <a:solidFill>
            <a:srgbClr val="3B9BDB"/>
          </a:solidFill>
          <a:ln w="12700">
            <a:solidFill>
              <a:srgbClr val="3B9BDB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057400" y="109728"/>
            <a:ext cx="628125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Rank Ablation Across All Backbones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3B9BDB"/>
          </a:solidFill>
          <a:ln w="12700">
            <a:solidFill>
              <a:srgbClr val="3B9BDB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graphicFrame>
        <p:nvGraphicFramePr>
          <p:cNvPr id="6" name="Chart 0"/>
          <p:cNvGraphicFramePr/>
          <p:nvPr/>
        </p:nvGraphicFramePr>
        <p:xfrm>
          <a:off x="320040" y="960120"/>
          <a:ext cx="59436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400800" y="1005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0" y="1463040"/>
            <a:ext cx="201168" cy="201168"/>
          </a:xfrm>
          <a:prstGeom prst="ellipse">
            <a:avLst/>
          </a:prstGeom>
          <a:solidFill>
            <a:srgbClr val="3B9BDB"/>
          </a:solidFill>
          <a:ln w="12700">
            <a:solidFill>
              <a:srgbClr val="3B9BDB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9" name="Text 6"/>
          <p:cNvSpPr/>
          <p:nvPr/>
        </p:nvSpPr>
        <p:spPr>
          <a:xfrm>
            <a:off x="6656832" y="144475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Qwen3-0.6B: optimal at r=16; r=32 overfits (val loss rises from epoch 2)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0" y="2176272"/>
            <a:ext cx="201168" cy="201168"/>
          </a:xfrm>
          <a:prstGeom prst="ellipse">
            <a:avLst/>
          </a:prstGeom>
          <a:solidFill>
            <a:srgbClr val="3B9BDB"/>
          </a:solidFill>
          <a:ln w="12700">
            <a:solidFill>
              <a:srgbClr val="3B9BDB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1" name="Text 8"/>
          <p:cNvSpPr/>
          <p:nvPr/>
        </p:nvSpPr>
        <p:spPr>
          <a:xfrm>
            <a:off x="6656832" y="2157984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Llama-1B &amp; Mistral-3B: monotone improvement, best at r=64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00800" y="2889504"/>
            <a:ext cx="201168" cy="201168"/>
          </a:xfrm>
          <a:prstGeom prst="ellipse">
            <a:avLst/>
          </a:prstGeom>
          <a:solidFill>
            <a:srgbClr val="3B9BDB"/>
          </a:solidFill>
          <a:ln w="12700">
            <a:solidFill>
              <a:srgbClr val="3B9BDB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3" name="Text 10"/>
          <p:cNvSpPr/>
          <p:nvPr/>
        </p:nvSpPr>
        <p:spPr>
          <a:xfrm>
            <a:off x="6656832" y="2871216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Phi-4-mini: best at r=64 (0.7129); r=16 caused OOM on L4 GPU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0" y="3602736"/>
            <a:ext cx="201168" cy="201168"/>
          </a:xfrm>
          <a:prstGeom prst="ellipse">
            <a:avLst/>
          </a:prstGeom>
          <a:solidFill>
            <a:srgbClr val="3B9BDB"/>
          </a:solidFill>
          <a:ln w="12700">
            <a:solidFill>
              <a:srgbClr val="3B9BDB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5" name="Text 12"/>
          <p:cNvSpPr/>
          <p:nvPr/>
        </p:nvSpPr>
        <p:spPr>
          <a:xfrm>
            <a:off x="6656832" y="358444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models benefit from higher rank — stronger pre-training acts as regulariser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645920" cy="274320"/>
          </a:xfrm>
          <a:prstGeom prst="rect">
            <a:avLst/>
          </a:prstGeom>
          <a:solidFill>
            <a:srgbClr val="3B9BDB"/>
          </a:solidFill>
          <a:ln w="12700">
            <a:solidFill>
              <a:srgbClr val="3B9BDB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143941" y="151692"/>
            <a:ext cx="449035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vs. MLP Classifier Head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3B9BDB"/>
          </a:solidFill>
          <a:ln w="12700">
            <a:solidFill>
              <a:srgbClr val="3B9BDB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4206240" cy="3291840"/>
          </a:xfrm>
          <a:prstGeom prst="rect">
            <a:avLst/>
          </a:prstGeom>
          <a:solidFill>
            <a:srgbClr val="FDECEA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Head (Arch 1)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164592" cy="16459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9" name="Text 7"/>
          <p:cNvSpPr/>
          <p:nvPr/>
        </p:nvSpPr>
        <p:spPr>
          <a:xfrm>
            <a:off x="685800" y="15819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projection H → 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39112"/>
            <a:ext cx="164592" cy="16459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1" name="Text 9"/>
          <p:cNvSpPr/>
          <p:nvPr/>
        </p:nvSpPr>
        <p:spPr>
          <a:xfrm>
            <a:off x="685800" y="202082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accuracy: 89%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478024"/>
            <a:ext cx="164592" cy="16459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3" name="Text 11"/>
          <p:cNvSpPr/>
          <p:nvPr/>
        </p:nvSpPr>
        <p:spPr>
          <a:xfrm>
            <a:off x="685800" y="245973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accuracy: 58%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916936"/>
            <a:ext cx="164592" cy="16459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5" name="Text 13"/>
          <p:cNvSpPr/>
          <p:nvPr/>
        </p:nvSpPr>
        <p:spPr>
          <a:xfrm>
            <a:off x="685800" y="28986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Macro-F1: 0.34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355848"/>
            <a:ext cx="164592" cy="16459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7" name="Text 15"/>
          <p:cNvSpPr/>
          <p:nvPr/>
        </p:nvSpPr>
        <p:spPr>
          <a:xfrm>
            <a:off x="685800" y="33375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potentially_unsafe: 0.00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886200"/>
            <a:ext cx="3931920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9" name="Text 17"/>
          <p:cNvSpPr/>
          <p:nvPr/>
        </p:nvSpPr>
        <p:spPr>
          <a:xfrm>
            <a:off x="457200" y="38862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Majority-class collapse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1005840"/>
            <a:ext cx="4206240" cy="3291840"/>
          </a:xfrm>
          <a:prstGeom prst="rect">
            <a:avLst/>
          </a:prstGeom>
          <a:solidFill>
            <a:srgbClr val="E9F7F1"/>
          </a:solidFill>
          <a:ln w="1905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21" name="Text 19"/>
          <p:cNvSpPr/>
          <p:nvPr/>
        </p:nvSpPr>
        <p:spPr>
          <a:xfrm>
            <a:off x="4892040" y="10972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Head (Arch 2) ✓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892040" y="1600200"/>
            <a:ext cx="164592" cy="164592"/>
          </a:xfrm>
          <a:prstGeom prst="ellipse">
            <a:avLst/>
          </a:prstGeom>
          <a:solidFill>
            <a:srgbClr val="1D8A6E"/>
          </a:solidFill>
          <a:ln w="1270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23" name="Text 21"/>
          <p:cNvSpPr/>
          <p:nvPr/>
        </p:nvSpPr>
        <p:spPr>
          <a:xfrm>
            <a:off x="5120640" y="15819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→ GELU → Dropout(0.1) → 256 → 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92040" y="2039112"/>
            <a:ext cx="164592" cy="164592"/>
          </a:xfrm>
          <a:prstGeom prst="ellipse">
            <a:avLst/>
          </a:prstGeom>
          <a:solidFill>
            <a:srgbClr val="1D8A6E"/>
          </a:solidFill>
          <a:ln w="1270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25" name="Text 23"/>
          <p:cNvSpPr/>
          <p:nvPr/>
        </p:nvSpPr>
        <p:spPr>
          <a:xfrm>
            <a:off x="5120640" y="202082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accuracy: 87%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92040" y="2478024"/>
            <a:ext cx="164592" cy="164592"/>
          </a:xfrm>
          <a:prstGeom prst="ellipse">
            <a:avLst/>
          </a:prstGeom>
          <a:solidFill>
            <a:srgbClr val="1D8A6E"/>
          </a:solidFill>
          <a:ln w="1270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27" name="Text 25"/>
          <p:cNvSpPr/>
          <p:nvPr/>
        </p:nvSpPr>
        <p:spPr>
          <a:xfrm>
            <a:off x="5120640" y="245973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accuracy: 78.1%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92040" y="2916936"/>
            <a:ext cx="164592" cy="164592"/>
          </a:xfrm>
          <a:prstGeom prst="ellipse">
            <a:avLst/>
          </a:prstGeom>
          <a:solidFill>
            <a:srgbClr val="1D8A6E"/>
          </a:solidFill>
          <a:ln w="1270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29" name="Text 27"/>
          <p:cNvSpPr/>
          <p:nvPr/>
        </p:nvSpPr>
        <p:spPr>
          <a:xfrm>
            <a:off x="5120640" y="28986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Macro-F1: 0.70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92040" y="3355848"/>
            <a:ext cx="164592" cy="164592"/>
          </a:xfrm>
          <a:prstGeom prst="ellipse">
            <a:avLst/>
          </a:prstGeom>
          <a:solidFill>
            <a:srgbClr val="1D8A6E"/>
          </a:solidFill>
          <a:ln w="1270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31" name="Text 29"/>
          <p:cNvSpPr/>
          <p:nvPr/>
        </p:nvSpPr>
        <p:spPr>
          <a:xfrm>
            <a:off x="5120640" y="33375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potentially_unsafe: 0.38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92040" y="3886200"/>
            <a:ext cx="3931920" cy="320040"/>
          </a:xfrm>
          <a:prstGeom prst="rect">
            <a:avLst/>
          </a:prstGeom>
          <a:solidFill>
            <a:srgbClr val="1D8A6E"/>
          </a:solidFill>
          <a:ln w="1270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33" name="Text 31"/>
          <p:cNvSpPr/>
          <p:nvPr/>
        </p:nvSpPr>
        <p:spPr>
          <a:xfrm>
            <a:off x="4892040" y="38862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Generalises correctly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645920" cy="274320"/>
          </a:xfrm>
          <a:prstGeom prst="rect">
            <a:avLst/>
          </a:prstGeom>
          <a:solidFill>
            <a:srgbClr val="3B9BDB"/>
          </a:solidFill>
          <a:ln w="12700">
            <a:solidFill>
              <a:srgbClr val="3B9BDB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090057" y="149570"/>
            <a:ext cx="574765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Across Trajectory Length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3B9BDB"/>
          </a:solidFill>
          <a:ln w="12700">
            <a:solidFill>
              <a:srgbClr val="3B9BDB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graphicFrame>
        <p:nvGraphicFramePr>
          <p:cNvPr id="6" name="Chart 0"/>
          <p:cNvGraphicFramePr/>
          <p:nvPr/>
        </p:nvGraphicFramePr>
        <p:xfrm>
          <a:off x="320040" y="960120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5577840" y="1005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interpretation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577840" y="1463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5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(1-5)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577840" y="17373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examples only — underpowered; F1=0.53 unreliable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577840" y="2331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5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(6-10)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577840" y="26060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 spot: sufficient context, no mean-pooling dilution; F1=0.705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577840" y="3200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5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(11-15)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577840" y="34747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dips to 0.613 — safety signal spread over more neutral steps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577840" y="4069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5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Long (15+)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577840" y="43434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 of test set; F1 recovers to 0.701 despite 35% truncation rate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645920" cy="274320"/>
          </a:xfrm>
          <a:prstGeom prst="rect">
            <a:avLst/>
          </a:prstGeom>
          <a:solidFill>
            <a:srgbClr val="3B9BDB"/>
          </a:solidFill>
          <a:ln w="12700">
            <a:solidFill>
              <a:srgbClr val="3B9BDB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164749" y="90643"/>
            <a:ext cx="661307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— Mistral-3B + LoRA r=64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3B9BDB"/>
          </a:solidFill>
          <a:ln w="12700">
            <a:solidFill>
              <a:srgbClr val="3B9BDB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6" name="Shape 4"/>
          <p:cNvSpPr/>
          <p:nvPr/>
        </p:nvSpPr>
        <p:spPr>
          <a:xfrm>
            <a:off x="1645920" y="1005840"/>
            <a:ext cx="1508760" cy="1097280"/>
          </a:xfrm>
          <a:prstGeom prst="rect">
            <a:avLst/>
          </a:prstGeom>
          <a:solidFill>
            <a:srgbClr val="1D8A6E">
              <a:alpha val="89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7" name="Text 5"/>
          <p:cNvSpPr/>
          <p:nvPr/>
        </p:nvSpPr>
        <p:spPr>
          <a:xfrm>
            <a:off x="1645920" y="1005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(1054)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154680" y="1005840"/>
            <a:ext cx="1508760" cy="1097280"/>
          </a:xfrm>
          <a:prstGeom prst="rect">
            <a:avLst/>
          </a:prstGeom>
          <a:solidFill>
            <a:srgbClr val="2D5DA1">
              <a:alpha val="36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9" name="Text 7"/>
          <p:cNvSpPr/>
          <p:nvPr/>
        </p:nvSpPr>
        <p:spPr>
          <a:xfrm>
            <a:off x="3154680" y="1005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(111)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1508760" cy="1097280"/>
          </a:xfrm>
          <a:prstGeom prst="rect">
            <a:avLst/>
          </a:prstGeom>
          <a:solidFill>
            <a:srgbClr val="2D5DA1">
              <a:alpha val="34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1" name="Text 9"/>
          <p:cNvSpPr/>
          <p:nvPr/>
        </p:nvSpPr>
        <p:spPr>
          <a:xfrm>
            <a:off x="4663440" y="1005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(73)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1005840"/>
            <a:ext cx="1051560" cy="109728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645920" y="2103120"/>
            <a:ext cx="1508760" cy="1097280"/>
          </a:xfrm>
          <a:prstGeom prst="rect">
            <a:avLst/>
          </a:prstGeom>
          <a:solidFill>
            <a:srgbClr val="2D5DA1">
              <a:alpha val="47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4" name="Text 12"/>
          <p:cNvSpPr/>
          <p:nvPr/>
        </p:nvSpPr>
        <p:spPr>
          <a:xfrm>
            <a:off x="1645920" y="210312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(85)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154680" y="2103120"/>
            <a:ext cx="1508760" cy="1097280"/>
          </a:xfrm>
          <a:prstGeom prst="rect">
            <a:avLst/>
          </a:prstGeom>
          <a:solidFill>
            <a:srgbClr val="1D8A6E">
              <a:alpha val="57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6" name="Text 14"/>
          <p:cNvSpPr/>
          <p:nvPr/>
        </p:nvSpPr>
        <p:spPr>
          <a:xfrm>
            <a:off x="3154680" y="210312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0.39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(131)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63440" y="2103120"/>
            <a:ext cx="1508760" cy="1097280"/>
          </a:xfrm>
          <a:prstGeom prst="rect">
            <a:avLst/>
          </a:prstGeom>
          <a:solidFill>
            <a:srgbClr val="2D5DA1">
              <a:alpha val="54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8" name="Text 16"/>
          <p:cNvSpPr/>
          <p:nvPr/>
        </p:nvSpPr>
        <p:spPr>
          <a:xfrm>
            <a:off x="4663440" y="210312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(118)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2103120"/>
            <a:ext cx="1051560" cy="109728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pot_unsafe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645920" y="3200400"/>
            <a:ext cx="1508760" cy="1097280"/>
          </a:xfrm>
          <a:prstGeom prst="rect">
            <a:avLst/>
          </a:prstGeom>
          <a:solidFill>
            <a:srgbClr val="2D5DA1">
              <a:alpha val="31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21" name="Text 19"/>
          <p:cNvSpPr/>
          <p:nvPr/>
        </p:nvSpPr>
        <p:spPr>
          <a:xfrm>
            <a:off x="1645920" y="320040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(11)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154680" y="3200400"/>
            <a:ext cx="1508760" cy="1097280"/>
          </a:xfrm>
          <a:prstGeom prst="rect">
            <a:avLst/>
          </a:prstGeom>
          <a:solidFill>
            <a:srgbClr val="2D5DA1">
              <a:alpha val="37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23" name="Text 21"/>
          <p:cNvSpPr/>
          <p:nvPr/>
        </p:nvSpPr>
        <p:spPr>
          <a:xfrm>
            <a:off x="3154680" y="320040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(64)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663440" y="3200400"/>
            <a:ext cx="1508760" cy="1097280"/>
          </a:xfrm>
          <a:prstGeom prst="rect">
            <a:avLst/>
          </a:prstGeom>
          <a:solidFill>
            <a:srgbClr val="1D8A6E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25" name="Text 23"/>
          <p:cNvSpPr/>
          <p:nvPr/>
        </p:nvSpPr>
        <p:spPr>
          <a:xfrm>
            <a:off x="4663440" y="320040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(553)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3200400"/>
            <a:ext cx="1051560" cy="109728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645920" y="6400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154680" y="6400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pot_unsafe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63440" y="6400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-925830" y="639264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→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146304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↓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759212" y="1463040"/>
            <a:ext cx="91440" cy="502920"/>
          </a:xfrm>
          <a:prstGeom prst="rect">
            <a:avLst/>
          </a:prstGeom>
          <a:solidFill>
            <a:srgbClr val="1D8A6E"/>
          </a:solidFill>
          <a:ln w="1270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33" name="Text 31"/>
          <p:cNvSpPr/>
          <p:nvPr/>
        </p:nvSpPr>
        <p:spPr>
          <a:xfrm>
            <a:off x="7013120" y="1417320"/>
            <a:ext cx="19022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recall: 0.85 — model mostly handles majority class well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750231" y="2240280"/>
            <a:ext cx="9144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35" name="Text 33"/>
          <p:cNvSpPr/>
          <p:nvPr/>
        </p:nvSpPr>
        <p:spPr>
          <a:xfrm>
            <a:off x="6980463" y="2194560"/>
            <a:ext cx="196351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pot_unsafe recall: 0.39 — bi-directional confusion (25% → safe, 35% → unsafe)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724922" y="3017520"/>
            <a:ext cx="91440" cy="502920"/>
          </a:xfrm>
          <a:prstGeom prst="rect">
            <a:avLst/>
          </a:prstGeom>
          <a:solidFill>
            <a:srgbClr val="1D8A6E"/>
          </a:solidFill>
          <a:ln w="1270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37" name="Text 35"/>
          <p:cNvSpPr/>
          <p:nvPr/>
        </p:nvSpPr>
        <p:spPr>
          <a:xfrm>
            <a:off x="6980462" y="2971800"/>
            <a:ext cx="216353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recall: 0.88 — strong detection of fully harmful content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645920" cy="274320"/>
          </a:xfrm>
          <a:prstGeom prst="rect">
            <a:avLst/>
          </a:prstGeom>
          <a:solidFill>
            <a:srgbClr val="3B9BDB"/>
          </a:solidFill>
          <a:ln w="12700">
            <a:solidFill>
              <a:srgbClr val="3B9BDB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179864" y="146304"/>
            <a:ext cx="472847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Structural Error Patterns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3B9BDB"/>
          </a:solidFill>
          <a:ln w="12700">
            <a:solidFill>
              <a:srgbClr val="3B9BDB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6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7" name="Shape 5"/>
          <p:cNvSpPr/>
          <p:nvPr/>
        </p:nvSpPr>
        <p:spPr>
          <a:xfrm>
            <a:off x="320040" y="1024128"/>
            <a:ext cx="109728" cy="1170432"/>
          </a:xfrm>
          <a:prstGeom prst="rect">
            <a:avLst/>
          </a:prstGeom>
          <a:solidFill>
            <a:srgbClr val="E07B25"/>
          </a:solidFill>
          <a:ln w="12700">
            <a:solidFill>
              <a:srgbClr val="E07B25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8" name="Text 6"/>
          <p:cNvSpPr/>
          <p:nvPr/>
        </p:nvSpPr>
        <p:spPr>
          <a:xfrm>
            <a:off x="521208" y="10881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→ pot_unsafe  (n=111)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21208" y="13441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21208" y="16642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vocab (legal/medical) triggers prediction despite benign intent; 87% high-confidence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24128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6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2" name="Shape 10"/>
          <p:cNvSpPr/>
          <p:nvPr/>
        </p:nvSpPr>
        <p:spPr>
          <a:xfrm>
            <a:off x="4754880" y="1024128"/>
            <a:ext cx="109728" cy="11704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3" name="Text 11"/>
          <p:cNvSpPr/>
          <p:nvPr/>
        </p:nvSpPr>
        <p:spPr>
          <a:xfrm>
            <a:off x="4956048" y="10881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→ unsafe  (n=73)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56048" y="13441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over-generalisation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56048" y="16642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Fictional violence (Batman, creative writing) → unsafe conf ≥ 0.99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304288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6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7" name="Shape 15"/>
          <p:cNvSpPr/>
          <p:nvPr/>
        </p:nvSpPr>
        <p:spPr>
          <a:xfrm>
            <a:off x="320040" y="2304288"/>
            <a:ext cx="109728" cy="1170432"/>
          </a:xfrm>
          <a:prstGeom prst="rect">
            <a:avLst/>
          </a:prstGeom>
          <a:solidFill>
            <a:srgbClr val="2D5DA1"/>
          </a:solidFill>
          <a:ln w="12700">
            <a:solidFill>
              <a:srgbClr val="2D5DA1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8" name="Text 16"/>
          <p:cNvSpPr/>
          <p:nvPr/>
        </p:nvSpPr>
        <p:spPr>
          <a:xfrm>
            <a:off x="521208" y="23682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pot_unsafe → safe  (n=85)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1208" y="26243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 collapse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1208" y="29443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to majority class; refusal language in trace overrides harmful query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304288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6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22" name="Shape 20"/>
          <p:cNvSpPr/>
          <p:nvPr/>
        </p:nvSpPr>
        <p:spPr>
          <a:xfrm>
            <a:off x="4754880" y="2304288"/>
            <a:ext cx="109728" cy="11704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23" name="Text 21"/>
          <p:cNvSpPr/>
          <p:nvPr/>
        </p:nvSpPr>
        <p:spPr>
          <a:xfrm>
            <a:off x="4956048" y="23682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pot_unsafe → unsafe  (n=118)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56048" y="26243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Over-classification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56048" y="29443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vs execution: query is risky but trace refuses/hedges; no actionable content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3584448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6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27" name="Shape 25"/>
          <p:cNvSpPr/>
          <p:nvPr/>
        </p:nvSpPr>
        <p:spPr>
          <a:xfrm>
            <a:off x="320040" y="3584448"/>
            <a:ext cx="109728" cy="11704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28" name="Text 26"/>
          <p:cNvSpPr/>
          <p:nvPr/>
        </p:nvSpPr>
        <p:spPr>
          <a:xfrm>
            <a:off x="521208" y="36484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→ safe  (n=11)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1208" y="39044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Hedging camouflage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21208" y="42245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says 'I cannot' in trace → model predicts safe; worst failure (unsafe → safe)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3584448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6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32" name="Shape 30"/>
          <p:cNvSpPr/>
          <p:nvPr/>
        </p:nvSpPr>
        <p:spPr>
          <a:xfrm>
            <a:off x="4754880" y="3584448"/>
            <a:ext cx="109728" cy="1170432"/>
          </a:xfrm>
          <a:prstGeom prst="rect">
            <a:avLst/>
          </a:prstGeom>
          <a:solidFill>
            <a:srgbClr val="E07B25"/>
          </a:solidFill>
          <a:ln w="12700">
            <a:solidFill>
              <a:srgbClr val="E07B25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33" name="Text 31"/>
          <p:cNvSpPr/>
          <p:nvPr/>
        </p:nvSpPr>
        <p:spPr>
          <a:xfrm>
            <a:off x="4956048" y="36484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→ pot_unsafe  (n=64)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56048" y="39044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Under-classification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956048" y="42245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Harmful content late in trajectory diluted by mean pooling over neutral early steps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645920" cy="274320"/>
          </a:xfrm>
          <a:prstGeom prst="rect">
            <a:avLst/>
          </a:prstGeom>
          <a:solidFill>
            <a:srgbClr val="3B9BDB"/>
          </a:solidFill>
          <a:ln w="12700">
            <a:solidFill>
              <a:srgbClr val="3B9BDB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061080" y="82296"/>
            <a:ext cx="728006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Gradients —TP: Model Learns Trajectory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3B9BDB"/>
          </a:solidFill>
          <a:ln w="12700">
            <a:solidFill>
              <a:srgbClr val="3B9BDB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6" name="Text 4"/>
          <p:cNvSpPr/>
          <p:nvPr/>
        </p:nvSpPr>
        <p:spPr>
          <a:xfrm>
            <a:off x="320040" y="91440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= safe  |  Pred = safe  |  Spearman ρ = 0.621 (strong correlation)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13716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029200" y="1280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029200" y="1691640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"targeting" gets strong negative attribution (−0.568), correctly flagged as unsafe signal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3–6, 8–9 all push toward SAFE — cumulative evidence overrides the toxic token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ρ = 0.621: model integrates trajectory-level evidence, not just keyword matching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pooling works correctly here — safe steps dominate the final representation</a:t>
            </a:r>
            <a:endParaRPr lang="en-US" sz="1200" dirty="0"/>
          </a:p>
        </p:txBody>
      </p:sp>
      <p:pic>
        <p:nvPicPr>
          <p:cNvPr id="52" name="Imagine 51" descr="The image illustrates a decision-making process in a sequential model, where the overall attribution score ranges from -0.8 to 0.4, indicating a trend towards positive (safe) outcomes as the number of steps increases.&#10;&#10;Conținutul generat de inteligența artificială poate fi incorect.">
            <a:extLst>
              <a:ext uri="{FF2B5EF4-FFF2-40B4-BE49-F238E27FC236}">
                <a16:creationId xmlns:a16="http://schemas.microsoft.com/office/drawing/2014/main" id="{D3CAB32F-C9B7-0D02-54AE-E9B0CA628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08" y="1298448"/>
            <a:ext cx="4853755" cy="35140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645920" cy="274320"/>
          </a:xfrm>
          <a:prstGeom prst="rect">
            <a:avLst/>
          </a:prstGeom>
          <a:solidFill>
            <a:srgbClr val="3B9BDB"/>
          </a:solidFill>
          <a:ln w="12700">
            <a:solidFill>
              <a:srgbClr val="3B9BDB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216357" y="114300"/>
            <a:ext cx="714375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Gradients — FP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3B9BDB"/>
          </a:solidFill>
          <a:ln w="12700">
            <a:solidFill>
              <a:srgbClr val="3B9BDB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6" name="Text 4"/>
          <p:cNvSpPr/>
          <p:nvPr/>
        </p:nvSpPr>
        <p:spPr>
          <a:xfrm>
            <a:off x="320040" y="91440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= unsafe  |  Pred = safe  |  Spearman ρ = 0.000 (no alignment)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389120" y="1280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wrong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389120" y="1691640"/>
            <a:ext cx="45720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correctly gets −1.555 (model detects the unsafe intent)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1,3,4,5 contain hedging language ("shouldn't", "curious", "from an ethical standpoint") → large positive attributions despite being GT=unsafe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out of 9 steps push toward SAFE, overwhelming the query signal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0.000: IG scores have zero correlation with ground truth — complete misalignment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mean pooling over the full trace loses the query-level danger signal when early steps hedge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389120" y="4480560"/>
            <a:ext cx="4572000" cy="411480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50" name="Text 48"/>
          <p:cNvSpPr/>
          <p:nvPr/>
        </p:nvSpPr>
        <p:spPr>
          <a:xfrm>
            <a:off x="4480560" y="449884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step-level supervision or last-token pooling to preserve query signal</a:t>
            </a:r>
            <a:endParaRPr lang="en-US" sz="1100" dirty="0"/>
          </a:p>
        </p:txBody>
      </p:sp>
      <p:pic>
        <p:nvPicPr>
          <p:cNvPr id="52" name="Imagine 51" descr="The image illustrates a step-by-step attribution score for a query, indicating various levels of safety (GT) and their association with a positive or negative score (SAFE or UNSAFE).&#10;&#10;Conținutul generat de inteligența artificială poate fi incorect.">
            <a:extLst>
              <a:ext uri="{FF2B5EF4-FFF2-40B4-BE49-F238E27FC236}">
                <a16:creationId xmlns:a16="http://schemas.microsoft.com/office/drawing/2014/main" id="{0AFC50B4-1A9C-FA2F-2577-9B155FCC62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86" y="1551214"/>
            <a:ext cx="4164743" cy="301523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645920" cy="274320"/>
          </a:xfrm>
          <a:prstGeom prst="rect">
            <a:avLst/>
          </a:prstGeom>
          <a:solidFill>
            <a:srgbClr val="3B9BDB"/>
          </a:solidFill>
          <a:ln w="12700">
            <a:solidFill>
              <a:srgbClr val="3B9BDB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191624" y="123444"/>
            <a:ext cx="63022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Comparison with Related Work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3B9BDB"/>
          </a:solidFill>
          <a:ln w="12700">
            <a:solidFill>
              <a:srgbClr val="3B9BDB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2743200" cy="38404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63240" y="1005840"/>
            <a:ext cx="2743200" cy="38404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9" name="Text 7"/>
          <p:cNvSpPr/>
          <p:nvPr/>
        </p:nvSpPr>
        <p:spPr>
          <a:xfrm>
            <a:off x="3063240" y="10058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/ Dataset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06440" y="1005840"/>
            <a:ext cx="1280160" cy="38404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1" name="Text 9"/>
          <p:cNvSpPr/>
          <p:nvPr/>
        </p:nvSpPr>
        <p:spPr>
          <a:xfrm>
            <a:off x="5806440" y="10058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086600" y="1005840"/>
            <a:ext cx="1188720" cy="38404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3" name="Text 11"/>
          <p:cNvSpPr/>
          <p:nvPr/>
        </p:nvSpPr>
        <p:spPr>
          <a:xfrm>
            <a:off x="7086600" y="10058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1389888"/>
            <a:ext cx="2743200" cy="502920"/>
          </a:xfrm>
          <a:prstGeom prst="rect">
            <a:avLst/>
          </a:prstGeom>
          <a:solidFill>
            <a:srgbClr val="EDF3FA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5" name="Text 13"/>
          <p:cNvSpPr/>
          <p:nvPr/>
        </p:nvSpPr>
        <p:spPr>
          <a:xfrm>
            <a:off x="393192" y="138988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SVM (ours)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063240" y="1389888"/>
            <a:ext cx="2743200" cy="502920"/>
          </a:xfrm>
          <a:prstGeom prst="rect">
            <a:avLst/>
          </a:prstGeom>
          <a:solidFill>
            <a:srgbClr val="EDF3FA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7" name="Text 15"/>
          <p:cNvSpPr/>
          <p:nvPr/>
        </p:nvSpPr>
        <p:spPr>
          <a:xfrm>
            <a:off x="3136392" y="138988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3-class, PAN-CLEF 2026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06440" y="1389888"/>
            <a:ext cx="1280160" cy="502920"/>
          </a:xfrm>
          <a:prstGeom prst="rect">
            <a:avLst/>
          </a:prstGeom>
          <a:solidFill>
            <a:srgbClr val="EDF3FA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9" name="Text 17"/>
          <p:cNvSpPr/>
          <p:nvPr/>
        </p:nvSpPr>
        <p:spPr>
          <a:xfrm>
            <a:off x="5879592" y="138988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086600" y="1389888"/>
            <a:ext cx="1188720" cy="502920"/>
          </a:xfrm>
          <a:prstGeom prst="rect">
            <a:avLst/>
          </a:prstGeom>
          <a:solidFill>
            <a:srgbClr val="EDF3FA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21" name="Text 19"/>
          <p:cNvSpPr/>
          <p:nvPr/>
        </p:nvSpPr>
        <p:spPr>
          <a:xfrm>
            <a:off x="7159752" y="138988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0.46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1892808"/>
            <a:ext cx="2743200" cy="502920"/>
          </a:xfrm>
          <a:prstGeom prst="rect">
            <a:avLst/>
          </a:prstGeom>
          <a:solidFill>
            <a:srgbClr val="EDF3FA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23" name="Text 21"/>
          <p:cNvSpPr/>
          <p:nvPr/>
        </p:nvSpPr>
        <p:spPr>
          <a:xfrm>
            <a:off x="393192" y="18928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BERT-large (ours)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063240" y="1892808"/>
            <a:ext cx="2743200" cy="502920"/>
          </a:xfrm>
          <a:prstGeom prst="rect">
            <a:avLst/>
          </a:prstGeom>
          <a:solidFill>
            <a:srgbClr val="EDF3FA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25" name="Text 23"/>
          <p:cNvSpPr/>
          <p:nvPr/>
        </p:nvSpPr>
        <p:spPr>
          <a:xfrm>
            <a:off x="3136392" y="18928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3-class, PAN-CLEF 2026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1892808"/>
            <a:ext cx="1280160" cy="502920"/>
          </a:xfrm>
          <a:prstGeom prst="rect">
            <a:avLst/>
          </a:prstGeom>
          <a:solidFill>
            <a:srgbClr val="EDF3FA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27" name="Text 25"/>
          <p:cNvSpPr/>
          <p:nvPr/>
        </p:nvSpPr>
        <p:spPr>
          <a:xfrm>
            <a:off x="5879592" y="189280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086600" y="1892808"/>
            <a:ext cx="1188720" cy="502920"/>
          </a:xfrm>
          <a:prstGeom prst="rect">
            <a:avLst/>
          </a:prstGeom>
          <a:solidFill>
            <a:srgbClr val="EDF3FA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29" name="Text 27"/>
          <p:cNvSpPr/>
          <p:nvPr/>
        </p:nvSpPr>
        <p:spPr>
          <a:xfrm>
            <a:off x="7159752" y="189280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2395728"/>
            <a:ext cx="2743200" cy="502920"/>
          </a:xfrm>
          <a:prstGeom prst="rect">
            <a:avLst/>
          </a:prstGeom>
          <a:solidFill>
            <a:srgbClr val="E3F7EF"/>
          </a:solidFill>
          <a:ln w="635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31" name="Text 29"/>
          <p:cNvSpPr/>
          <p:nvPr/>
        </p:nvSpPr>
        <p:spPr>
          <a:xfrm>
            <a:off x="393192" y="239572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Phi-4-mini + LoRA (ours)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063240" y="2395728"/>
            <a:ext cx="2743200" cy="502920"/>
          </a:xfrm>
          <a:prstGeom prst="rect">
            <a:avLst/>
          </a:prstGeom>
          <a:solidFill>
            <a:srgbClr val="E3F7EF"/>
          </a:solidFill>
          <a:ln w="635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33" name="Text 31"/>
          <p:cNvSpPr/>
          <p:nvPr/>
        </p:nvSpPr>
        <p:spPr>
          <a:xfrm>
            <a:off x="3136392" y="239572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3-class, PAN-CLEF 2026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806440" y="2395728"/>
            <a:ext cx="1280160" cy="502920"/>
          </a:xfrm>
          <a:prstGeom prst="rect">
            <a:avLst/>
          </a:prstGeom>
          <a:solidFill>
            <a:srgbClr val="E3F7EF"/>
          </a:solidFill>
          <a:ln w="635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35" name="Text 33"/>
          <p:cNvSpPr/>
          <p:nvPr/>
        </p:nvSpPr>
        <p:spPr>
          <a:xfrm>
            <a:off x="5879592" y="239572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086600" y="2395728"/>
            <a:ext cx="1188720" cy="502920"/>
          </a:xfrm>
          <a:prstGeom prst="rect">
            <a:avLst/>
          </a:prstGeom>
          <a:solidFill>
            <a:srgbClr val="E3F7EF"/>
          </a:solidFill>
          <a:ln w="6350">
            <a:solidFill>
              <a:srgbClr val="1D8A6E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37" name="Text 35"/>
          <p:cNvSpPr/>
          <p:nvPr/>
        </p:nvSpPr>
        <p:spPr>
          <a:xfrm>
            <a:off x="7159752" y="239572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0040" y="2898648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39" name="Text 37"/>
          <p:cNvSpPr/>
          <p:nvPr/>
        </p:nvSpPr>
        <p:spPr>
          <a:xfrm>
            <a:off x="393192" y="289864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SAFECHAIN†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063240" y="2898648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41" name="Text 39"/>
          <p:cNvSpPr/>
          <p:nvPr/>
        </p:nvSpPr>
        <p:spPr>
          <a:xfrm>
            <a:off x="3136392" y="289864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LRM safety, StrongReject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806440" y="2898648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43" name="Text 41"/>
          <p:cNvSpPr/>
          <p:nvPr/>
        </p:nvSpPr>
        <p:spPr>
          <a:xfrm>
            <a:off x="5879592" y="289864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Safe@1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086600" y="2898648"/>
            <a:ext cx="1188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45" name="Text 43"/>
          <p:cNvSpPr/>
          <p:nvPr/>
        </p:nvSpPr>
        <p:spPr>
          <a:xfrm>
            <a:off x="7159752" y="289864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97.1%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20040" y="3401568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47" name="Text 45"/>
          <p:cNvSpPr/>
          <p:nvPr/>
        </p:nvSpPr>
        <p:spPr>
          <a:xfrm>
            <a:off x="393192" y="34015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ReasoningShield†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063240" y="3401568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49" name="Text 47"/>
          <p:cNvSpPr/>
          <p:nvPr/>
        </p:nvSpPr>
        <p:spPr>
          <a:xfrm>
            <a:off x="3136392" y="34015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 moderation, RS-Bench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806440" y="3401568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51" name="Text 49"/>
          <p:cNvSpPr/>
          <p:nvPr/>
        </p:nvSpPr>
        <p:spPr>
          <a:xfrm>
            <a:off x="5879592" y="340156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ΔF1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086600" y="3401568"/>
            <a:ext cx="1188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53" name="Text 51"/>
          <p:cNvSpPr/>
          <p:nvPr/>
        </p:nvSpPr>
        <p:spPr>
          <a:xfrm>
            <a:off x="7159752" y="340156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+35.6pp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20040" y="3904488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55" name="Text 53"/>
          <p:cNvSpPr/>
          <p:nvPr/>
        </p:nvSpPr>
        <p:spPr>
          <a:xfrm>
            <a:off x="393192" y="390448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GuardTrace-VL†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3063240" y="3904488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57" name="Text 55"/>
          <p:cNvSpPr/>
          <p:nvPr/>
        </p:nvSpPr>
        <p:spPr>
          <a:xfrm>
            <a:off x="3136392" y="390448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unsafe, multimodal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5806440" y="3904488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59" name="Text 57"/>
          <p:cNvSpPr/>
          <p:nvPr/>
        </p:nvSpPr>
        <p:spPr>
          <a:xfrm>
            <a:off x="5879592" y="390448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7086600" y="3904488"/>
            <a:ext cx="1188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61" name="Text 59"/>
          <p:cNvSpPr/>
          <p:nvPr/>
        </p:nvSpPr>
        <p:spPr>
          <a:xfrm>
            <a:off x="7159752" y="390448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0.931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320040" y="457200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† Not directly comparable — different dataset, task formulation, and metric.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B9BDB"/>
          </a:solidFill>
          <a:ln w="12700">
            <a:solidFill>
              <a:srgbClr val="3B9BDB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3" name="Text 1"/>
          <p:cNvSpPr/>
          <p:nvPr/>
        </p:nvSpPr>
        <p:spPr>
          <a:xfrm>
            <a:off x="228600" y="18288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 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886968"/>
            <a:ext cx="8595360" cy="22860"/>
          </a:xfrm>
          <a:prstGeom prst="rect">
            <a:avLst/>
          </a:prstGeom>
          <a:solidFill>
            <a:srgbClr val="3B9BDB"/>
          </a:solidFill>
          <a:ln w="12700">
            <a:solidFill>
              <a:srgbClr val="3B9BDB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9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82880" cy="182880"/>
          </a:xfrm>
          <a:prstGeom prst="ellipse">
            <a:avLst/>
          </a:prstGeom>
          <a:solidFill>
            <a:srgbClr val="3B9BDB"/>
          </a:solidFill>
          <a:ln w="12700">
            <a:solidFill>
              <a:srgbClr val="3B9BDB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7" name="Text 5"/>
          <p:cNvSpPr/>
          <p:nvPr/>
        </p:nvSpPr>
        <p:spPr>
          <a:xfrm>
            <a:off x="731520" y="144475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Phi-4-mini + LoRA r=64 achieves Macro-F1 = 0.7129, 54.8% relative gain over TF-IDF+SVM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93392"/>
            <a:ext cx="182880" cy="182880"/>
          </a:xfrm>
          <a:prstGeom prst="ellipse">
            <a:avLst/>
          </a:prstGeom>
          <a:solidFill>
            <a:srgbClr val="3B9BDB"/>
          </a:solidFill>
          <a:ln w="12700">
            <a:solidFill>
              <a:srgbClr val="3B9BDB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9" name="Text 7"/>
          <p:cNvSpPr/>
          <p:nvPr/>
        </p:nvSpPr>
        <p:spPr>
          <a:xfrm>
            <a:off x="731520" y="197510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Reasoning-focused pre-training matters more than raw parameter count at 1B–4B scale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523744"/>
            <a:ext cx="182880" cy="182880"/>
          </a:xfrm>
          <a:prstGeom prst="ellipse">
            <a:avLst/>
          </a:prstGeom>
          <a:solidFill>
            <a:srgbClr val="3B9BDB"/>
          </a:solidFill>
          <a:ln w="12700">
            <a:solidFill>
              <a:srgbClr val="3B9BDB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1" name="Text 9"/>
          <p:cNvSpPr/>
          <p:nvPr/>
        </p:nvSpPr>
        <p:spPr>
          <a:xfrm>
            <a:off x="731520" y="250545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LoRA rank is model-size-dependent: r=16 for Qwen3-0.6B, r=64 for larger models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54096"/>
            <a:ext cx="182880" cy="182880"/>
          </a:xfrm>
          <a:prstGeom prst="ellipse">
            <a:avLst/>
          </a:prstGeom>
          <a:solidFill>
            <a:srgbClr val="3B9BDB"/>
          </a:solidFill>
          <a:ln w="12700">
            <a:solidFill>
              <a:srgbClr val="3B9BDB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potentially_unsafe remains bottleneck across all models (F1 ≈ 0.42): bi-directional confusion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584448"/>
            <a:ext cx="182880" cy="182880"/>
          </a:xfrm>
          <a:prstGeom prst="ellipse">
            <a:avLst/>
          </a:prstGeom>
          <a:solidFill>
            <a:srgbClr val="3B9BDB"/>
          </a:solidFill>
          <a:ln w="12700">
            <a:solidFill>
              <a:srgbClr val="3B9BDB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5" name="Text 13"/>
          <p:cNvSpPr/>
          <p:nvPr/>
        </p:nvSpPr>
        <p:spPr>
          <a:xfrm>
            <a:off x="731520" y="356616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pooling + truncation degrades on Very Long trajectories (15+ steps)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005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9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46320" y="1627632"/>
            <a:ext cx="228600" cy="0"/>
          </a:xfrm>
          <a:prstGeom prst="line">
            <a:avLst/>
          </a:prstGeom>
          <a:noFill/>
          <a:ln w="19050">
            <a:solidFill>
              <a:srgbClr val="7A92A8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8" name="Text 16"/>
          <p:cNvSpPr/>
          <p:nvPr/>
        </p:nvSpPr>
        <p:spPr>
          <a:xfrm>
            <a:off x="5166360" y="148132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Step-level multi-task loss using detailed_label field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2130552"/>
            <a:ext cx="228600" cy="0"/>
          </a:xfrm>
          <a:prstGeom prst="line">
            <a:avLst/>
          </a:prstGeom>
          <a:noFill/>
          <a:ln w="19050">
            <a:solidFill>
              <a:srgbClr val="7A92A8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20" name="Text 18"/>
          <p:cNvSpPr/>
          <p:nvPr/>
        </p:nvSpPr>
        <p:spPr>
          <a:xfrm>
            <a:off x="5166360" y="198424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classification (label as generated token)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2633472"/>
            <a:ext cx="228600" cy="0"/>
          </a:xfrm>
          <a:prstGeom prst="line">
            <a:avLst/>
          </a:prstGeom>
          <a:noFill/>
          <a:ln w="19050">
            <a:solidFill>
              <a:srgbClr val="7A92A8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22" name="Text 20"/>
          <p:cNvSpPr/>
          <p:nvPr/>
        </p:nvSpPr>
        <p:spPr>
          <a:xfrm>
            <a:off x="5166360" y="248716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truncation: keep last k tokens or hierarchical chunking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3136392"/>
            <a:ext cx="228600" cy="0"/>
          </a:xfrm>
          <a:prstGeom prst="line">
            <a:avLst/>
          </a:prstGeom>
          <a:noFill/>
          <a:ln w="19050">
            <a:solidFill>
              <a:srgbClr val="7A92A8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24" name="Text 22"/>
          <p:cNvSpPr/>
          <p:nvPr/>
        </p:nvSpPr>
        <p:spPr>
          <a:xfrm>
            <a:off x="5166360" y="299008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Loss to improve potentially_unsafe boundary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3639312"/>
            <a:ext cx="228600" cy="0"/>
          </a:xfrm>
          <a:prstGeom prst="line">
            <a:avLst/>
          </a:prstGeom>
          <a:noFill/>
          <a:ln w="19050">
            <a:solidFill>
              <a:srgbClr val="7A92A8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26" name="Text 24"/>
          <p:cNvSpPr/>
          <p:nvPr/>
        </p:nvSpPr>
        <p:spPr>
          <a:xfrm>
            <a:off x="5166360" y="349300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Last-token pooling ablation vs mean pooling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A2E"/>
          </a:solidFill>
          <a:ln w="12700">
            <a:solidFill>
              <a:srgbClr val="0F1A2E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28" name="Text 26"/>
          <p:cNvSpPr/>
          <p:nvPr/>
        </p:nvSpPr>
        <p:spPr>
          <a:xfrm>
            <a:off x="320040" y="477316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PAN-CLEF 2026  ·  University of Bucharest  ·  May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</TotalTime>
  <Words>1374</Words>
  <Application>Microsoft Office PowerPoint</Application>
  <PresentationFormat>Expunere pe ecran (16:9)</PresentationFormat>
  <Paragraphs>268</Paragraphs>
  <Slides>15</Slides>
  <Notes>15</Notes>
  <HiddenSlides>0</HiddenSlides>
  <MMClips>0</MMClips>
  <ScaleCrop>false</ScaleCrop>
  <HeadingPairs>
    <vt:vector size="6" baseType="variant">
      <vt:variant>
        <vt:lpstr>Fonturi utilizate</vt:lpstr>
      </vt:variant>
      <vt:variant>
        <vt:i4>2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Detecting Unsafe Reasoning Trajectories in LLMs</dc:title>
  <dc:subject>NLP</dc:subject>
  <dc:creator>Stefan Voica</dc:creator>
  <cp:lastModifiedBy>Ștefan Voica</cp:lastModifiedBy>
  <cp:revision>20</cp:revision>
  <dcterms:created xsi:type="dcterms:W3CDTF">2026-05-19T18:41:25Z</dcterms:created>
  <dcterms:modified xsi:type="dcterms:W3CDTF">2026-05-20T13:25:54Z</dcterms:modified>
</cp:coreProperties>
</file>